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Lst>
  <p:notesMasterIdLst>
    <p:notesMasterId r:id="rId5"/>
  </p:notesMasterIdLst>
  <p:sldSz cx="14630400" cy="8229600"/>
  <p:notesSz cx="8229600" cy="14630400"/>
  <p:embeddedFontLst>
    <p:embeddedFont>
      <p:font typeface="Tomorrow Semi Bold"/>
      <p:regular r:id="rId10"/>
    </p:embeddedFont>
    <p:embeddedFont>
      <p:font typeface="Tomorrow Semi Bold"/>
      <p:regular r:id="rId11"/>
    </p:embeddedFont>
    <p:embeddedFont>
      <p:font typeface="Tomorrow Semi Bold"/>
      <p:regular r:id="rId12"/>
    </p:embeddedFont>
    <p:embeddedFont>
      <p:font typeface="Tomorrow Semi Bold"/>
      <p:regular r:id="rId13"/>
    </p:embeddedFont>
    <p:embeddedFont>
      <p:font typeface="Tomorrow"/>
      <p:regular r:id="rId14"/>
    </p:embeddedFont>
    <p:embeddedFont>
      <p:font typeface="Tomorrow"/>
      <p:regular r:id="rId15"/>
    </p:embeddedFont>
    <p:embeddedFont>
      <p:font typeface="Tomorrow"/>
      <p:regular r:id="rId16"/>
    </p:embeddedFont>
    <p:embeddedFont>
      <p:font typeface="Tomorrow"/>
      <p:regular r:id="rId17"/>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 Id="rId10" Type="http://schemas.openxmlformats.org/officeDocument/2006/relationships/font" Target="fonts/font1.fntdata"/><Relationship Id="rId11" Type="http://schemas.openxmlformats.org/officeDocument/2006/relationships/font" Target="fonts/font2.fntdata"/><Relationship Id="rId12" Type="http://schemas.openxmlformats.org/officeDocument/2006/relationships/font" Target="fonts/font3.fntdata"/><Relationship Id="rId13" Type="http://schemas.openxmlformats.org/officeDocument/2006/relationships/font" Target="fonts/font4.fntdata"/><Relationship Id="rId14" Type="http://schemas.openxmlformats.org/officeDocument/2006/relationships/font" Target="fonts/font5.fntdata"/><Relationship Id="rId15" Type="http://schemas.openxmlformats.org/officeDocument/2006/relationships/font" Target="fonts/font6.fntdata"/><Relationship Id="rId16" Type="http://schemas.openxmlformats.org/officeDocument/2006/relationships/font" Target="fonts/font7.fntdata"/><Relationship Id="rId17"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FEFEF"/>
          </a:solidFill>
          <a:ln/>
        </p:spPr>
      </p:sp>
      <p:sp>
        <p:nvSpPr>
          <p:cNvPr id="3" name="Shape 1"/>
          <p:cNvSpPr/>
          <p:nvPr/>
        </p:nvSpPr>
        <p:spPr>
          <a:xfrm>
            <a:off x="0" y="0"/>
            <a:ext cx="14630400" cy="8229600"/>
          </a:xfrm>
          <a:prstGeom prst="rect">
            <a:avLst/>
          </a:prstGeom>
          <a:solidFill>
            <a:srgbClr val="FCFCFC"/>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FEFEF"/>
          </a:solidFill>
          <a:ln/>
        </p:spPr>
      </p:sp>
      <p:sp>
        <p:nvSpPr>
          <p:cNvPr id="3" name="Shape 1"/>
          <p:cNvSpPr/>
          <p:nvPr/>
        </p:nvSpPr>
        <p:spPr>
          <a:xfrm>
            <a:off x="0" y="0"/>
            <a:ext cx="14630400" cy="8229600"/>
          </a:xfrm>
          <a:prstGeom prst="rect">
            <a:avLst/>
          </a:prstGeom>
          <a:solidFill>
            <a:srgbClr val="FCFCFC"/>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FEFEF"/>
          </a:solidFill>
          <a:ln/>
        </p:spPr>
      </p:sp>
      <p:sp>
        <p:nvSpPr>
          <p:cNvPr id="3" name="Shape 1"/>
          <p:cNvSpPr/>
          <p:nvPr/>
        </p:nvSpPr>
        <p:spPr>
          <a:xfrm>
            <a:off x="0" y="0"/>
            <a:ext cx="14630400" cy="8229600"/>
          </a:xfrm>
          <a:prstGeom prst="rect">
            <a:avLst/>
          </a:prstGeom>
          <a:solidFill>
            <a:srgbClr val="FCFCFC"/>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svg"/><Relationship Id="rId4" Type="http://schemas.openxmlformats.org/officeDocument/2006/relationships/image" Target="../media/image-3-4.png"/><Relationship Id="rId5" Type="http://schemas.openxmlformats.org/officeDocument/2006/relationships/image" Target="../media/image-3-5.svg"/><Relationship Id="rId6" Type="http://schemas.openxmlformats.org/officeDocument/2006/relationships/image" Target="../media/image-3-6.png"/><Relationship Id="rId7" Type="http://schemas.openxmlformats.org/officeDocument/2006/relationships/image" Target="../media/image-3-7.svg"/><Relationship Id="rId8" Type="http://schemas.openxmlformats.org/officeDocument/2006/relationships/image" Target="../media/image-3-8.png"/><Relationship Id="rId9" Type="http://schemas.openxmlformats.org/officeDocument/2006/relationships/image" Target="../media/image-3-9.svg"/><Relationship Id="rId10" Type="http://schemas.openxmlformats.org/officeDocument/2006/relationships/slideLayout" Target="../slideLayouts/slideLayout4.xml"/><Relationship Id="rId11"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2696885" y="1002863"/>
            <a:ext cx="8251984" cy="365879"/>
          </a:xfrm>
          <a:prstGeom prst="rect">
            <a:avLst/>
          </a:prstGeom>
          <a:noFill/>
          <a:ln/>
        </p:spPr>
        <p:txBody>
          <a:bodyPr wrap="none" lIns="0" tIns="0" rIns="0" bIns="0" rtlCol="0" anchor="t"/>
          <a:lstStyle/>
          <a:p>
            <a:pPr algn="l" indent="0" marL="0">
              <a:lnSpc>
                <a:spcPts val="2850"/>
              </a:lnSpc>
              <a:buNone/>
            </a:pPr>
            <a:r>
              <a:rPr lang="en-US" sz="2300" dirty="0">
                <a:solidFill>
                  <a:srgbClr val="1D1D1B"/>
                </a:solidFill>
                <a:latin typeface="Tomorrow Semi Bold" pitchFamily="34" charset="0"/>
                <a:ea typeface="Tomorrow Semi Bold" pitchFamily="34" charset="-122"/>
                <a:cs typeface="Tomorrow Semi Bold" pitchFamily="34" charset="-120"/>
              </a:rPr>
              <a:t>Driving Innovation: Introducing Our AI Innovation Team</a:t>
            </a:r>
            <a:endParaRPr lang="en-US" sz="2300" dirty="0"/>
          </a:p>
        </p:txBody>
      </p:sp>
      <p:sp>
        <p:nvSpPr>
          <p:cNvPr id="3" name="Text 1"/>
          <p:cNvSpPr/>
          <p:nvPr/>
        </p:nvSpPr>
        <p:spPr>
          <a:xfrm>
            <a:off x="2696885" y="1506974"/>
            <a:ext cx="9236631" cy="446842"/>
          </a:xfrm>
          <a:prstGeom prst="rect">
            <a:avLst/>
          </a:prstGeom>
          <a:noFill/>
          <a:ln/>
        </p:spPr>
        <p:txBody>
          <a:bodyPr wrap="square" lIns="0" tIns="0" rIns="0" bIns="0" rtlCol="0" anchor="t"/>
          <a:lstStyle/>
          <a:p>
            <a:pPr algn="l" indent="0" marL="0">
              <a:lnSpc>
                <a:spcPts val="1150"/>
              </a:lnSpc>
              <a:buNone/>
            </a:pPr>
            <a:r>
              <a:rPr lang="en-US" sz="900" dirty="0">
                <a:solidFill>
                  <a:srgbClr val="61615C"/>
                </a:solidFill>
                <a:latin typeface="Tomorrow" pitchFamily="34" charset="0"/>
                <a:ea typeface="Tomorrow" pitchFamily="34" charset="-122"/>
                <a:cs typeface="Tomorrow" pitchFamily="34" charset="-120"/>
              </a:rPr>
              <a:t>We are a dedicated </a:t>
            </a:r>
            <a:pPr algn="l" indent="0" marL="0">
              <a:lnSpc>
                <a:spcPts val="1150"/>
              </a:lnSpc>
              <a:buNone/>
            </a:pPr>
            <a:r>
              <a:rPr lang="en-US" sz="900" dirty="0">
                <a:solidFill>
                  <a:srgbClr val="1D1D1B"/>
                </a:solidFill>
                <a:latin typeface="Tomorrow" pitchFamily="34" charset="0"/>
                <a:ea typeface="Tomorrow" pitchFamily="34" charset="-122"/>
                <a:cs typeface="Tomorrow" pitchFamily="34" charset="-120"/>
              </a:rPr>
              <a:t>AI Innovation</a:t>
            </a:r>
            <a:pPr algn="l" indent="0" marL="0">
              <a:lnSpc>
                <a:spcPts val="1150"/>
              </a:lnSpc>
              <a:buNone/>
            </a:pPr>
            <a:r>
              <a:rPr lang="en-US" sz="900" dirty="0">
                <a:solidFill>
                  <a:srgbClr val="61615C"/>
                </a:solidFill>
                <a:latin typeface="Tomorrow" pitchFamily="34" charset="0"/>
                <a:ea typeface="Tomorrow" pitchFamily="34" charset="-122"/>
                <a:cs typeface="Tomorrow" pitchFamily="34" charset="-120"/>
              </a:rPr>
              <a:t> team established to identify, build, and scale AI-powered solutions. Our mission is to accelerate delivery, reduce manual effort, and support critical initiatives in regulatory compliance and technology modernization. We partner closely with engineering, business, and Centers of Excellence (COE) to transform ideas from initial concept to enterprise-wide adoption, ensuring practical and impactful results.</a:t>
            </a:r>
            <a:endParaRPr lang="en-US" sz="900" dirty="0"/>
          </a:p>
        </p:txBody>
      </p:sp>
      <p:pic>
        <p:nvPicPr>
          <p:cNvPr id="4" name="Image 0" descr="preencoded.png">    </p:cNvPr>
          <p:cNvPicPr>
            <a:picLocks noChangeAspect="1"/>
          </p:cNvPicPr>
          <p:nvPr/>
        </p:nvPicPr>
        <p:blipFill>
          <a:blip r:embed="rId1"/>
          <a:stretch>
            <a:fillRect/>
          </a:stretch>
        </p:blipFill>
        <p:spPr>
          <a:xfrm>
            <a:off x="2696885" y="2031563"/>
            <a:ext cx="4575096" cy="2827615"/>
          </a:xfrm>
          <a:prstGeom prst="rect">
            <a:avLst/>
          </a:prstGeom>
        </p:spPr>
      </p:pic>
      <p:sp>
        <p:nvSpPr>
          <p:cNvPr id="5" name="Text 2"/>
          <p:cNvSpPr/>
          <p:nvPr/>
        </p:nvSpPr>
        <p:spPr>
          <a:xfrm>
            <a:off x="2696885" y="4928235"/>
            <a:ext cx="2718435" cy="219670"/>
          </a:xfrm>
          <a:prstGeom prst="rect">
            <a:avLst/>
          </a:prstGeom>
          <a:noFill/>
          <a:ln/>
        </p:spPr>
        <p:txBody>
          <a:bodyPr wrap="none" lIns="0" tIns="0" rIns="0" bIns="0" rtlCol="0" anchor="t"/>
          <a:lstStyle/>
          <a:p>
            <a:pPr algn="l" indent="0" marL="0">
              <a:lnSpc>
                <a:spcPts val="1700"/>
              </a:lnSpc>
              <a:buNone/>
            </a:pPr>
            <a:r>
              <a:rPr lang="en-US" sz="1350" dirty="0">
                <a:solidFill>
                  <a:srgbClr val="61615C"/>
                </a:solidFill>
                <a:latin typeface="Tomorrow Semi Bold" pitchFamily="34" charset="0"/>
                <a:ea typeface="Tomorrow Semi Bold" pitchFamily="34" charset="-122"/>
                <a:cs typeface="Tomorrow Semi Bold" pitchFamily="34" charset="-120"/>
              </a:rPr>
              <a:t>How We Identify Opportunities</a:t>
            </a:r>
            <a:endParaRPr lang="en-US" sz="1350" dirty="0"/>
          </a:p>
        </p:txBody>
      </p:sp>
      <p:sp>
        <p:nvSpPr>
          <p:cNvPr id="6" name="Text 3"/>
          <p:cNvSpPr/>
          <p:nvPr/>
        </p:nvSpPr>
        <p:spPr>
          <a:xfrm>
            <a:off x="2696885" y="5189339"/>
            <a:ext cx="4575096" cy="1043053"/>
          </a:xfrm>
          <a:prstGeom prst="rect">
            <a:avLst/>
          </a:prstGeom>
          <a:noFill/>
          <a:ln/>
        </p:spPr>
        <p:txBody>
          <a:bodyPr wrap="square" lIns="0" tIns="0" rIns="0" bIns="0" rtlCol="0" anchor="t"/>
          <a:lstStyle/>
          <a:p>
            <a:pPr algn="l" marL="342900" indent="-342900">
              <a:lnSpc>
                <a:spcPts val="1150"/>
              </a:lnSpc>
              <a:buSzPct val="100000"/>
              <a:buChar char="•"/>
            </a:pPr>
            <a:r>
              <a:rPr lang="en-US" sz="900" b="1" dirty="0">
                <a:solidFill>
                  <a:srgbClr val="61615C"/>
                </a:solidFill>
                <a:latin typeface="Tomorrow" pitchFamily="34" charset="0"/>
                <a:ea typeface="Tomorrow" pitchFamily="34" charset="-122"/>
                <a:cs typeface="Tomorrow" pitchFamily="34" charset="-120"/>
              </a:rPr>
              <a:t>Where We Look:</a:t>
            </a:r>
            <a:pPr algn="l" indent="0" marL="0">
              <a:lnSpc>
                <a:spcPts val="1150"/>
              </a:lnSpc>
              <a:buNone/>
            </a:pPr>
            <a:r>
              <a:rPr lang="en-US" sz="900" dirty="0">
                <a:solidFill>
                  <a:srgbClr val="61615C"/>
                </a:solidFill>
                <a:latin typeface="Tomorrow" pitchFamily="34" charset="0"/>
                <a:ea typeface="Tomorrow" pitchFamily="34" charset="-122"/>
                <a:cs typeface="Tomorrow" pitchFamily="34" charset="-120"/>
              </a:rPr>
              <a:t> Pain points from delivery, operations, and compliance; legacy tech debt and manual workflows; regulatory and process bottlenecks.</a:t>
            </a:r>
            <a:endParaRPr lang="en-US" sz="900" dirty="0"/>
          </a:p>
          <a:p>
            <a:pPr algn="l" marL="342900" indent="-342900">
              <a:lnSpc>
                <a:spcPts val="1150"/>
              </a:lnSpc>
              <a:buSzPct val="100000"/>
              <a:buChar char="•"/>
            </a:pPr>
            <a:r>
              <a:rPr lang="en-US" sz="900" b="1" dirty="0">
                <a:solidFill>
                  <a:srgbClr val="61615C"/>
                </a:solidFill>
                <a:latin typeface="Tomorrow" pitchFamily="34" charset="0"/>
                <a:ea typeface="Tomorrow" pitchFamily="34" charset="-122"/>
                <a:cs typeface="Tomorrow" pitchFamily="34" charset="-120"/>
              </a:rPr>
              <a:t>What We Do:</a:t>
            </a:r>
            <a:pPr algn="l" indent="0" marL="0">
              <a:lnSpc>
                <a:spcPts val="1150"/>
              </a:lnSpc>
              <a:buNone/>
            </a:pPr>
            <a:r>
              <a:rPr lang="en-US" sz="900" dirty="0">
                <a:solidFill>
                  <a:srgbClr val="61615C"/>
                </a:solidFill>
                <a:latin typeface="Tomorrow" pitchFamily="34" charset="0"/>
                <a:ea typeface="Tomorrow" pitchFamily="34" charset="-122"/>
                <a:cs typeface="Tomorrow" pitchFamily="34" charset="-120"/>
              </a:rPr>
              <a:t> Partner with DDAT, Medicare/Medicaid, and Regulatory COE to surface high-effort, high-impact problems. Map modernization and automation opportunities (e.g., legacy code conversion, API creation, incident triage). Identify repeatable workflows that AI can ingest, classify, and accelerate (e.g., mandates, requirements).</a:t>
            </a:r>
            <a:endParaRPr lang="en-US" sz="900" dirty="0"/>
          </a:p>
        </p:txBody>
      </p:sp>
      <p:pic>
        <p:nvPicPr>
          <p:cNvPr id="7" name="Image 1" descr="preencoded.png">    </p:cNvPr>
          <p:cNvPicPr>
            <a:picLocks noChangeAspect="1"/>
          </p:cNvPicPr>
          <p:nvPr/>
        </p:nvPicPr>
        <p:blipFill>
          <a:blip r:embed="rId2"/>
          <a:stretch>
            <a:fillRect/>
          </a:stretch>
        </p:blipFill>
        <p:spPr>
          <a:xfrm>
            <a:off x="7358301" y="2031563"/>
            <a:ext cx="4575215" cy="2827615"/>
          </a:xfrm>
          <a:prstGeom prst="rect">
            <a:avLst/>
          </a:prstGeom>
        </p:spPr>
      </p:pic>
      <p:sp>
        <p:nvSpPr>
          <p:cNvPr id="8" name="Text 4"/>
          <p:cNvSpPr/>
          <p:nvPr/>
        </p:nvSpPr>
        <p:spPr>
          <a:xfrm>
            <a:off x="7358301" y="4928235"/>
            <a:ext cx="3392091" cy="219670"/>
          </a:xfrm>
          <a:prstGeom prst="rect">
            <a:avLst/>
          </a:prstGeom>
          <a:noFill/>
          <a:ln/>
        </p:spPr>
        <p:txBody>
          <a:bodyPr wrap="none" lIns="0" tIns="0" rIns="0" bIns="0" rtlCol="0" anchor="t"/>
          <a:lstStyle/>
          <a:p>
            <a:pPr algn="l" indent="0" marL="0">
              <a:lnSpc>
                <a:spcPts val="1700"/>
              </a:lnSpc>
              <a:buNone/>
            </a:pPr>
            <a:r>
              <a:rPr lang="en-US" sz="1350" dirty="0">
                <a:solidFill>
                  <a:srgbClr val="61615C"/>
                </a:solidFill>
                <a:latin typeface="Tomorrow Semi Bold" pitchFamily="34" charset="0"/>
                <a:ea typeface="Tomorrow Semi Bold" pitchFamily="34" charset="-122"/>
                <a:cs typeface="Tomorrow Semi Bold" pitchFamily="34" charset="-120"/>
              </a:rPr>
              <a:t>How We Benefit the Business &amp; Teams</a:t>
            </a:r>
            <a:endParaRPr lang="en-US" sz="1350" dirty="0"/>
          </a:p>
        </p:txBody>
      </p:sp>
      <p:sp>
        <p:nvSpPr>
          <p:cNvPr id="9" name="Text 5"/>
          <p:cNvSpPr/>
          <p:nvPr/>
        </p:nvSpPr>
        <p:spPr>
          <a:xfrm>
            <a:off x="7358301" y="5189339"/>
            <a:ext cx="4575215" cy="894045"/>
          </a:xfrm>
          <a:prstGeom prst="rect">
            <a:avLst/>
          </a:prstGeom>
          <a:noFill/>
          <a:ln/>
        </p:spPr>
        <p:txBody>
          <a:bodyPr wrap="square" lIns="0" tIns="0" rIns="0" bIns="0" rtlCol="0" anchor="t"/>
          <a:lstStyle/>
          <a:p>
            <a:pPr algn="l" marL="342900" indent="-342900">
              <a:lnSpc>
                <a:spcPts val="1150"/>
              </a:lnSpc>
              <a:buSzPct val="100000"/>
              <a:buChar char="•"/>
            </a:pPr>
            <a:r>
              <a:rPr lang="en-US" sz="900" b="1" dirty="0">
                <a:solidFill>
                  <a:srgbClr val="61615C"/>
                </a:solidFill>
                <a:latin typeface="Tomorrow" pitchFamily="34" charset="0"/>
                <a:ea typeface="Tomorrow" pitchFamily="34" charset="-122"/>
                <a:cs typeface="Tomorrow" pitchFamily="34" charset="-120"/>
              </a:rPr>
              <a:t>For the Business:</a:t>
            </a:r>
            <a:pPr algn="l" indent="0" marL="0">
              <a:lnSpc>
                <a:spcPts val="1150"/>
              </a:lnSpc>
              <a:buNone/>
            </a:pPr>
            <a:r>
              <a:rPr lang="en-US" sz="900" dirty="0">
                <a:solidFill>
                  <a:srgbClr val="61615C"/>
                </a:solidFill>
                <a:latin typeface="Tomorrow" pitchFamily="34" charset="0"/>
                <a:ea typeface="Tomorrow" pitchFamily="34" charset="-122"/>
                <a:cs typeface="Tomorrow" pitchFamily="34" charset="-120"/>
              </a:rPr>
              <a:t> Faster time-to-compliance, lower regulatory risk, reduced cost of legacy support and modernization, and scalable, repeatable processes.</a:t>
            </a:r>
            <a:endParaRPr lang="en-US" sz="900" dirty="0"/>
          </a:p>
          <a:p>
            <a:pPr algn="l" marL="342900" indent="-342900">
              <a:lnSpc>
                <a:spcPts val="1150"/>
              </a:lnSpc>
              <a:buSzPct val="100000"/>
              <a:buChar char="•"/>
            </a:pPr>
            <a:r>
              <a:rPr lang="en-US" sz="900" b="1" dirty="0">
                <a:solidFill>
                  <a:srgbClr val="61615C"/>
                </a:solidFill>
                <a:latin typeface="Tomorrow" pitchFamily="34" charset="0"/>
                <a:ea typeface="Tomorrow" pitchFamily="34" charset="-122"/>
                <a:cs typeface="Tomorrow" pitchFamily="34" charset="-120"/>
              </a:rPr>
              <a:t>For Delivery &amp; Product Teams:</a:t>
            </a:r>
            <a:pPr algn="l" indent="0" marL="0">
              <a:lnSpc>
                <a:spcPts val="1150"/>
              </a:lnSpc>
              <a:buNone/>
            </a:pPr>
            <a:r>
              <a:rPr lang="en-US" sz="900" dirty="0">
                <a:solidFill>
                  <a:srgbClr val="61615C"/>
                </a:solidFill>
                <a:latin typeface="Tomorrow" pitchFamily="34" charset="0"/>
                <a:ea typeface="Tomorrow" pitchFamily="34" charset="-122"/>
                <a:cs typeface="Tomorrow" pitchFamily="34" charset="-120"/>
              </a:rPr>
              <a:t> Less firefighting and more time for feature work (e.g., faster incident resolution, automated triage). Automated code and API generation; fewer manual conversions and rework. Clearer requirements, traceable user stories, and consistent patterns.</a:t>
            </a:r>
            <a:endParaRPr lang="en-US" sz="900" dirty="0"/>
          </a:p>
        </p:txBody>
      </p:sp>
      <p:sp>
        <p:nvSpPr>
          <p:cNvPr id="10" name="Text 6"/>
          <p:cNvSpPr/>
          <p:nvPr/>
        </p:nvSpPr>
        <p:spPr>
          <a:xfrm>
            <a:off x="2696885" y="6286333"/>
            <a:ext cx="9236631" cy="297894"/>
          </a:xfrm>
          <a:prstGeom prst="rect">
            <a:avLst/>
          </a:prstGeom>
          <a:noFill/>
          <a:ln/>
        </p:spPr>
        <p:txBody>
          <a:bodyPr wrap="square" lIns="0" tIns="0" rIns="0" bIns="0" rtlCol="0" anchor="t"/>
          <a:lstStyle/>
          <a:p>
            <a:pPr algn="l" indent="0" marL="0">
              <a:lnSpc>
                <a:spcPts val="1150"/>
              </a:lnSpc>
              <a:buNone/>
            </a:pPr>
            <a:r>
              <a:rPr lang="en-US" sz="900" dirty="0">
                <a:solidFill>
                  <a:srgbClr val="61615C"/>
                </a:solidFill>
                <a:latin typeface="Tomorrow" pitchFamily="34" charset="0"/>
                <a:ea typeface="Tomorrow" pitchFamily="34" charset="-122"/>
                <a:cs typeface="Tomorrow" pitchFamily="34" charset="-120"/>
              </a:rPr>
              <a:t>We strategically focus on use cases that significantly reduce manual effort, speed time-to-market, and directly align with our core objectives of Technology Modernization and Regulatory &amp; Compliance excellence.</a:t>
            </a:r>
            <a:endParaRPr lang="en-US" sz="900" dirty="0"/>
          </a:p>
        </p:txBody>
      </p:sp>
      <p:sp>
        <p:nvSpPr>
          <p:cNvPr id="11" name="Text 7"/>
          <p:cNvSpPr/>
          <p:nvPr/>
        </p:nvSpPr>
        <p:spPr>
          <a:xfrm>
            <a:off x="2696885" y="6687811"/>
            <a:ext cx="1464112" cy="182999"/>
          </a:xfrm>
          <a:prstGeom prst="rect">
            <a:avLst/>
          </a:prstGeom>
          <a:noFill/>
          <a:ln/>
        </p:spPr>
        <p:txBody>
          <a:bodyPr wrap="none" lIns="0" tIns="0" rIns="0" bIns="0" rtlCol="0" anchor="t"/>
          <a:lstStyle/>
          <a:p>
            <a:pPr algn="l" indent="0" marL="0">
              <a:lnSpc>
                <a:spcPts val="1400"/>
              </a:lnSpc>
              <a:buNone/>
            </a:pPr>
            <a:r>
              <a:rPr lang="en-US" sz="1150" dirty="0">
                <a:solidFill>
                  <a:srgbClr val="1D1D1B"/>
                </a:solidFill>
                <a:latin typeface="Tomorrow Semi Bold" pitchFamily="34" charset="0"/>
                <a:ea typeface="Tomorrow Semi Bold" pitchFamily="34" charset="-122"/>
                <a:cs typeface="Tomorrow Semi Bold" pitchFamily="34" charset="-120"/>
              </a:rPr>
              <a:t>We work across:</a:t>
            </a:r>
            <a:endParaRPr lang="en-US" sz="1150" dirty="0"/>
          </a:p>
        </p:txBody>
      </p:sp>
      <p:sp>
        <p:nvSpPr>
          <p:cNvPr id="12" name="Shape 8"/>
          <p:cNvSpPr/>
          <p:nvPr/>
        </p:nvSpPr>
        <p:spPr>
          <a:xfrm>
            <a:off x="2696885" y="6974395"/>
            <a:ext cx="1061680" cy="204668"/>
          </a:xfrm>
          <a:prstGeom prst="roundRect">
            <a:avLst>
              <a:gd name="adj" fmla="val 6868"/>
            </a:avLst>
          </a:prstGeom>
          <a:noFill/>
          <a:ln w="7620">
            <a:solidFill>
              <a:srgbClr val="1D1D1B"/>
            </a:solidFill>
            <a:prstDash val="solid"/>
          </a:ln>
        </p:spPr>
      </p:sp>
      <p:sp>
        <p:nvSpPr>
          <p:cNvPr id="13" name="Text 9"/>
          <p:cNvSpPr/>
          <p:nvPr/>
        </p:nvSpPr>
        <p:spPr>
          <a:xfrm>
            <a:off x="2774752" y="7017138"/>
            <a:ext cx="905947" cy="119182"/>
          </a:xfrm>
          <a:prstGeom prst="rect">
            <a:avLst/>
          </a:prstGeom>
          <a:noFill/>
          <a:ln/>
        </p:spPr>
        <p:txBody>
          <a:bodyPr wrap="none" lIns="0" tIns="0" rIns="0" bIns="0" rtlCol="0" anchor="t"/>
          <a:lstStyle/>
          <a:p>
            <a:pPr algn="l" indent="0" marL="0">
              <a:lnSpc>
                <a:spcPts val="900"/>
              </a:lnSpc>
              <a:buNone/>
            </a:pPr>
            <a:r>
              <a:rPr lang="en-US" sz="700" dirty="0">
                <a:solidFill>
                  <a:srgbClr val="1D1D1B"/>
                </a:solidFill>
                <a:latin typeface="Tomorrow" pitchFamily="34" charset="0"/>
                <a:ea typeface="Tomorrow" pitchFamily="34" charset="-122"/>
                <a:cs typeface="Tomorrow" pitchFamily="34" charset="-120"/>
              </a:rPr>
              <a:t>DDAT ENGINEERING</a:t>
            </a:r>
            <a:endParaRPr lang="en-US" sz="700" dirty="0"/>
          </a:p>
        </p:txBody>
      </p:sp>
      <p:sp>
        <p:nvSpPr>
          <p:cNvPr id="14" name="Shape 10"/>
          <p:cNvSpPr/>
          <p:nvPr/>
        </p:nvSpPr>
        <p:spPr>
          <a:xfrm>
            <a:off x="3817025" y="6974395"/>
            <a:ext cx="1769150" cy="204668"/>
          </a:xfrm>
          <a:prstGeom prst="roundRect">
            <a:avLst>
              <a:gd name="adj" fmla="val 6868"/>
            </a:avLst>
          </a:prstGeom>
          <a:noFill/>
          <a:ln w="7620">
            <a:solidFill>
              <a:srgbClr val="1D1D1B"/>
            </a:solidFill>
            <a:prstDash val="solid"/>
          </a:ln>
        </p:spPr>
      </p:sp>
      <p:sp>
        <p:nvSpPr>
          <p:cNvPr id="15" name="Text 11"/>
          <p:cNvSpPr/>
          <p:nvPr/>
        </p:nvSpPr>
        <p:spPr>
          <a:xfrm>
            <a:off x="3894892" y="7017138"/>
            <a:ext cx="1613416" cy="119182"/>
          </a:xfrm>
          <a:prstGeom prst="rect">
            <a:avLst/>
          </a:prstGeom>
          <a:noFill/>
          <a:ln/>
        </p:spPr>
        <p:txBody>
          <a:bodyPr wrap="none" lIns="0" tIns="0" rIns="0" bIns="0" rtlCol="0" anchor="t"/>
          <a:lstStyle/>
          <a:p>
            <a:pPr algn="l" indent="0" marL="0">
              <a:lnSpc>
                <a:spcPts val="900"/>
              </a:lnSpc>
              <a:buNone/>
            </a:pPr>
            <a:r>
              <a:rPr lang="en-US" sz="700" dirty="0">
                <a:solidFill>
                  <a:srgbClr val="1D1D1B"/>
                </a:solidFill>
                <a:latin typeface="Tomorrow" pitchFamily="34" charset="0"/>
                <a:ea typeface="Tomorrow" pitchFamily="34" charset="-122"/>
                <a:cs typeface="Tomorrow" pitchFamily="34" charset="-120"/>
              </a:rPr>
              <a:t>MEDICARE/MEDICAID &amp; EXCHANGE</a:t>
            </a:r>
            <a:endParaRPr lang="en-US" sz="700" dirty="0"/>
          </a:p>
        </p:txBody>
      </p:sp>
      <p:sp>
        <p:nvSpPr>
          <p:cNvPr id="16" name="Shape 12"/>
          <p:cNvSpPr/>
          <p:nvPr/>
        </p:nvSpPr>
        <p:spPr>
          <a:xfrm>
            <a:off x="5644634" y="6974395"/>
            <a:ext cx="1764983" cy="204668"/>
          </a:xfrm>
          <a:prstGeom prst="roundRect">
            <a:avLst>
              <a:gd name="adj" fmla="val 6868"/>
            </a:avLst>
          </a:prstGeom>
          <a:noFill/>
          <a:ln w="7620">
            <a:solidFill>
              <a:srgbClr val="1D1D1B"/>
            </a:solidFill>
            <a:prstDash val="solid"/>
          </a:ln>
        </p:spPr>
      </p:sp>
      <p:sp>
        <p:nvSpPr>
          <p:cNvPr id="17" name="Text 13"/>
          <p:cNvSpPr/>
          <p:nvPr/>
        </p:nvSpPr>
        <p:spPr>
          <a:xfrm>
            <a:off x="5722501" y="7017138"/>
            <a:ext cx="1609249" cy="119182"/>
          </a:xfrm>
          <a:prstGeom prst="rect">
            <a:avLst/>
          </a:prstGeom>
          <a:noFill/>
          <a:ln/>
        </p:spPr>
        <p:txBody>
          <a:bodyPr wrap="none" lIns="0" tIns="0" rIns="0" bIns="0" rtlCol="0" anchor="t"/>
          <a:lstStyle/>
          <a:p>
            <a:pPr algn="l" indent="0" marL="0">
              <a:lnSpc>
                <a:spcPts val="900"/>
              </a:lnSpc>
              <a:buNone/>
            </a:pPr>
            <a:r>
              <a:rPr lang="en-US" sz="700" dirty="0">
                <a:solidFill>
                  <a:srgbClr val="1D1D1B"/>
                </a:solidFill>
                <a:latin typeface="Tomorrow" pitchFamily="34" charset="0"/>
                <a:ea typeface="Tomorrow" pitchFamily="34" charset="-122"/>
                <a:cs typeface="Tomorrow" pitchFamily="34" charset="-120"/>
              </a:rPr>
              <a:t>REGULATORY &amp; ADJUDICATION COE</a:t>
            </a:r>
            <a:endParaRPr lang="en-US" sz="700" dirty="0"/>
          </a:p>
        </p:txBody>
      </p:sp>
      <p:sp>
        <p:nvSpPr>
          <p:cNvPr id="18" name="Shape 14"/>
          <p:cNvSpPr/>
          <p:nvPr/>
        </p:nvSpPr>
        <p:spPr>
          <a:xfrm>
            <a:off x="7468076" y="6974395"/>
            <a:ext cx="1840230" cy="204668"/>
          </a:xfrm>
          <a:prstGeom prst="roundRect">
            <a:avLst>
              <a:gd name="adj" fmla="val 6868"/>
            </a:avLst>
          </a:prstGeom>
          <a:noFill/>
          <a:ln w="7620">
            <a:solidFill>
              <a:srgbClr val="1D1D1B"/>
            </a:solidFill>
            <a:prstDash val="solid"/>
          </a:ln>
        </p:spPr>
      </p:sp>
      <p:sp>
        <p:nvSpPr>
          <p:cNvPr id="19" name="Text 15"/>
          <p:cNvSpPr/>
          <p:nvPr/>
        </p:nvSpPr>
        <p:spPr>
          <a:xfrm>
            <a:off x="7545943" y="7017138"/>
            <a:ext cx="1684496" cy="119182"/>
          </a:xfrm>
          <a:prstGeom prst="rect">
            <a:avLst/>
          </a:prstGeom>
          <a:noFill/>
          <a:ln/>
        </p:spPr>
        <p:txBody>
          <a:bodyPr wrap="none" lIns="0" tIns="0" rIns="0" bIns="0" rtlCol="0" anchor="t"/>
          <a:lstStyle/>
          <a:p>
            <a:pPr algn="l" indent="0" marL="0">
              <a:lnSpc>
                <a:spcPts val="900"/>
              </a:lnSpc>
              <a:buNone/>
            </a:pPr>
            <a:r>
              <a:rPr lang="en-US" sz="700" dirty="0">
                <a:solidFill>
                  <a:srgbClr val="1D1D1B"/>
                </a:solidFill>
                <a:latin typeface="Tomorrow" pitchFamily="34" charset="0"/>
                <a:ea typeface="Tomorrow" pitchFamily="34" charset="-122"/>
                <a:cs typeface="Tomorrow" pitchFamily="34" charset="-120"/>
              </a:rPr>
              <a:t>PRODUCT &amp; PROGRAM MANAGEMENT</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577846" y="3263979"/>
            <a:ext cx="7258764" cy="635079"/>
          </a:xfrm>
          <a:prstGeom prst="rect">
            <a:avLst/>
          </a:prstGeom>
          <a:noFill/>
          <a:ln/>
        </p:spPr>
        <p:txBody>
          <a:bodyPr wrap="square" lIns="0" tIns="0" rIns="0" bIns="0" rtlCol="0" anchor="t"/>
          <a:lstStyle/>
          <a:p>
            <a:pPr algn="l" indent="0" marL="0">
              <a:lnSpc>
                <a:spcPts val="2500"/>
              </a:lnSpc>
              <a:buNone/>
            </a:pPr>
            <a:r>
              <a:rPr lang="en-US" sz="1550" dirty="0">
                <a:solidFill>
                  <a:srgbClr val="61615C"/>
                </a:solidFill>
                <a:latin typeface="Tomorrow" pitchFamily="34" charset="0"/>
                <a:ea typeface="Tomorrow" pitchFamily="34" charset="-122"/>
                <a:cs typeface="Tomorrow" pitchFamily="34" charset="-120"/>
              </a:rPr>
              <a:t>This section outlines our strategic focus on accelerating key program areas and our methodical approach to bringing AI solutions to fruition.</a:t>
            </a:r>
            <a:endParaRPr lang="en-US" sz="1550" dirty="0"/>
          </a:p>
        </p:txBody>
      </p:sp>
      <p:sp>
        <p:nvSpPr>
          <p:cNvPr id="4" name="Shape 1"/>
          <p:cNvSpPr/>
          <p:nvPr/>
        </p:nvSpPr>
        <p:spPr>
          <a:xfrm>
            <a:off x="6280190" y="3040737"/>
            <a:ext cx="22860" cy="1081564"/>
          </a:xfrm>
          <a:prstGeom prst="rect">
            <a:avLst/>
          </a:prstGeom>
          <a:solidFill>
            <a:srgbClr val="1D1D1B"/>
          </a:solidFill>
          <a:ln/>
        </p:spPr>
      </p:sp>
      <p:sp>
        <p:nvSpPr>
          <p:cNvPr id="5" name="Shape 2"/>
          <p:cNvSpPr/>
          <p:nvPr/>
        </p:nvSpPr>
        <p:spPr>
          <a:xfrm>
            <a:off x="6280190" y="4345543"/>
            <a:ext cx="7556421" cy="843201"/>
          </a:xfrm>
          <a:prstGeom prst="roundRect">
            <a:avLst>
              <a:gd name="adj" fmla="val 3531"/>
            </a:avLst>
          </a:prstGeom>
          <a:solidFill>
            <a:srgbClr val="DADAD7"/>
          </a:solidFill>
          <a:ln/>
        </p:spPr>
      </p:sp>
      <p:pic>
        <p:nvPicPr>
          <p:cNvPr id="6" name="Image 1" descr="preencoded.png">    </p:cNvPr>
          <p:cNvPicPr>
            <a:picLocks noChangeAspect="1"/>
          </p:cNvPicPr>
          <p:nvPr/>
        </p:nvPicPr>
        <p:blipFill>
          <a:blip r:embed="rId2"/>
          <a:stretch>
            <a:fillRect/>
          </a:stretch>
        </p:blipFill>
        <p:spPr>
          <a:xfrm>
            <a:off x="6478548" y="4656058"/>
            <a:ext cx="248007" cy="198358"/>
          </a:xfrm>
          <a:prstGeom prst="rect">
            <a:avLst/>
          </a:prstGeom>
        </p:spPr>
      </p:pic>
      <p:sp>
        <p:nvSpPr>
          <p:cNvPr id="7" name="Text 3"/>
          <p:cNvSpPr/>
          <p:nvPr/>
        </p:nvSpPr>
        <p:spPr>
          <a:xfrm>
            <a:off x="6924913" y="4593431"/>
            <a:ext cx="6713339" cy="317540"/>
          </a:xfrm>
          <a:prstGeom prst="rect">
            <a:avLst/>
          </a:prstGeom>
          <a:noFill/>
          <a:ln/>
        </p:spPr>
        <p:txBody>
          <a:bodyPr wrap="none" lIns="0" tIns="0" rIns="0" bIns="0" rtlCol="0" anchor="t"/>
          <a:lstStyle/>
          <a:p>
            <a:pPr algn="l" indent="0" marL="0">
              <a:lnSpc>
                <a:spcPts val="2500"/>
              </a:lnSpc>
              <a:buNone/>
            </a:pPr>
            <a:r>
              <a:rPr lang="en-US" sz="1550" dirty="0">
                <a:solidFill>
                  <a:srgbClr val="000000"/>
                </a:solidFill>
                <a:latin typeface="Tomorrow" pitchFamily="34" charset="0"/>
                <a:ea typeface="Tomorrow" pitchFamily="34" charset="-122"/>
                <a:cs typeface="Tomorrow" pitchFamily="34" charset="-120"/>
              </a:rPr>
              <a:t>Slide 1 of 2 • Page # • CVS Health.</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3257788" y="647224"/>
            <a:ext cx="5256967" cy="321588"/>
          </a:xfrm>
          <a:prstGeom prst="rect">
            <a:avLst/>
          </a:prstGeom>
          <a:noFill/>
          <a:ln/>
        </p:spPr>
        <p:txBody>
          <a:bodyPr wrap="none" lIns="0" tIns="0" rIns="0" bIns="0" rtlCol="0" anchor="t"/>
          <a:lstStyle/>
          <a:p>
            <a:pPr algn="l" indent="0" marL="0">
              <a:lnSpc>
                <a:spcPts val="2500"/>
              </a:lnSpc>
              <a:buNone/>
            </a:pPr>
            <a:r>
              <a:rPr lang="en-US" sz="2000" dirty="0">
                <a:solidFill>
                  <a:srgbClr val="1D1D1B"/>
                </a:solidFill>
                <a:latin typeface="Tomorrow Semi Bold" pitchFamily="34" charset="0"/>
                <a:ea typeface="Tomorrow Semi Bold" pitchFamily="34" charset="-122"/>
                <a:cs typeface="Tomorrow Semi Bold" pitchFamily="34" charset="-120"/>
              </a:rPr>
              <a:t>What We Accelerate &amp; How We Get There</a:t>
            </a:r>
            <a:endParaRPr lang="en-US" sz="2000" dirty="0"/>
          </a:p>
        </p:txBody>
      </p:sp>
      <p:sp>
        <p:nvSpPr>
          <p:cNvPr id="3" name="Shape 1"/>
          <p:cNvSpPr/>
          <p:nvPr/>
        </p:nvSpPr>
        <p:spPr>
          <a:xfrm>
            <a:off x="3257788" y="1229797"/>
            <a:ext cx="4030742" cy="2154555"/>
          </a:xfrm>
          <a:prstGeom prst="roundRect">
            <a:avLst>
              <a:gd name="adj" fmla="val 3395"/>
            </a:avLst>
          </a:prstGeom>
          <a:solidFill>
            <a:srgbClr val="FCFCFC"/>
          </a:solidFill>
          <a:ln/>
        </p:spPr>
      </p:sp>
      <p:sp>
        <p:nvSpPr>
          <p:cNvPr id="4" name="Shape 2"/>
          <p:cNvSpPr/>
          <p:nvPr/>
        </p:nvSpPr>
        <p:spPr>
          <a:xfrm>
            <a:off x="3257788" y="1214557"/>
            <a:ext cx="4030742" cy="60960"/>
          </a:xfrm>
          <a:prstGeom prst="roundRect">
            <a:avLst>
              <a:gd name="adj" fmla="val 25321"/>
            </a:avLst>
          </a:prstGeom>
          <a:solidFill>
            <a:srgbClr val="1D1D1B"/>
          </a:solidFill>
          <a:ln/>
        </p:spPr>
      </p:sp>
      <p:sp>
        <p:nvSpPr>
          <p:cNvPr id="5" name="Shape 3"/>
          <p:cNvSpPr/>
          <p:nvPr/>
        </p:nvSpPr>
        <p:spPr>
          <a:xfrm>
            <a:off x="5118854" y="1075492"/>
            <a:ext cx="308610" cy="308610"/>
          </a:xfrm>
          <a:prstGeom prst="roundRect">
            <a:avLst>
              <a:gd name="adj" fmla="val 296296"/>
            </a:avLst>
          </a:prstGeom>
          <a:solidFill>
            <a:srgbClr val="1D1D1B"/>
          </a:solidFill>
          <a:ln/>
        </p:spPr>
      </p:sp>
      <p:sp>
        <p:nvSpPr>
          <p:cNvPr id="6" name="Text 4"/>
          <p:cNvSpPr/>
          <p:nvPr/>
        </p:nvSpPr>
        <p:spPr>
          <a:xfrm>
            <a:off x="5211366" y="1152644"/>
            <a:ext cx="123468" cy="154305"/>
          </a:xfrm>
          <a:prstGeom prst="rect">
            <a:avLst/>
          </a:prstGeom>
          <a:noFill/>
          <a:ln/>
        </p:spPr>
        <p:txBody>
          <a:bodyPr wrap="none" lIns="0" tIns="0" rIns="0" bIns="0" rtlCol="0" anchor="t"/>
          <a:lstStyle/>
          <a:p>
            <a:pPr algn="l" indent="0" marL="0">
              <a:lnSpc>
                <a:spcPts val="1150"/>
              </a:lnSpc>
              <a:buNone/>
            </a:pPr>
            <a:r>
              <a:rPr lang="en-US" sz="950" dirty="0">
                <a:solidFill>
                  <a:srgbClr val="FFFFFF"/>
                </a:solidFill>
                <a:latin typeface="Tomorrow Semi Bold" pitchFamily="34" charset="0"/>
                <a:ea typeface="Tomorrow Semi Bold" pitchFamily="34" charset="-122"/>
                <a:cs typeface="Tomorrow Semi Bold" pitchFamily="34" charset="-120"/>
              </a:rPr>
              <a:t>1</a:t>
            </a:r>
            <a:endParaRPr lang="en-US" sz="950" dirty="0"/>
          </a:p>
        </p:txBody>
      </p:sp>
      <p:sp>
        <p:nvSpPr>
          <p:cNvPr id="7" name="Text 5"/>
          <p:cNvSpPr/>
          <p:nvPr/>
        </p:nvSpPr>
        <p:spPr>
          <a:xfrm>
            <a:off x="3375898" y="1486972"/>
            <a:ext cx="3061811" cy="192881"/>
          </a:xfrm>
          <a:prstGeom prst="rect">
            <a:avLst/>
          </a:prstGeom>
          <a:noFill/>
          <a:ln/>
        </p:spPr>
        <p:txBody>
          <a:bodyPr wrap="none" lIns="0" tIns="0" rIns="0" bIns="0" rtlCol="0" anchor="t"/>
          <a:lstStyle/>
          <a:p>
            <a:pPr algn="l" indent="0" marL="0">
              <a:lnSpc>
                <a:spcPts val="1500"/>
              </a:lnSpc>
              <a:buNone/>
            </a:pPr>
            <a:r>
              <a:rPr lang="en-US" sz="1200" dirty="0">
                <a:solidFill>
                  <a:srgbClr val="61615C"/>
                </a:solidFill>
                <a:latin typeface="Tomorrow Semi Bold" pitchFamily="34" charset="0"/>
                <a:ea typeface="Tomorrow Semi Bold" pitchFamily="34" charset="-122"/>
                <a:cs typeface="Tomorrow Semi Bold" pitchFamily="34" charset="-120"/>
              </a:rPr>
              <a:t>Use Cases That Accelerate the Program</a:t>
            </a:r>
            <a:endParaRPr lang="en-US" sz="1200" dirty="0"/>
          </a:p>
        </p:txBody>
      </p:sp>
      <p:sp>
        <p:nvSpPr>
          <p:cNvPr id="8" name="Text 6"/>
          <p:cNvSpPr/>
          <p:nvPr/>
        </p:nvSpPr>
        <p:spPr>
          <a:xfrm>
            <a:off x="3375898" y="1711762"/>
            <a:ext cx="3794522" cy="1500101"/>
          </a:xfrm>
          <a:prstGeom prst="rect">
            <a:avLst/>
          </a:prstGeom>
          <a:noFill/>
          <a:ln/>
        </p:spPr>
        <p:txBody>
          <a:bodyPr wrap="square" lIns="0" tIns="0" rIns="0" bIns="0" rtlCol="0" anchor="t"/>
          <a:lstStyle/>
          <a:p>
            <a:pPr algn="l" marL="342900" indent="-342900">
              <a:lnSpc>
                <a:spcPts val="950"/>
              </a:lnSpc>
              <a:buSzPct val="100000"/>
              <a:buChar char="•"/>
            </a:pPr>
            <a:r>
              <a:rPr lang="en-US" sz="800" b="1" dirty="0">
                <a:solidFill>
                  <a:srgbClr val="61615C"/>
                </a:solidFill>
                <a:latin typeface="Tomorrow" pitchFamily="34" charset="0"/>
                <a:ea typeface="Tomorrow" pitchFamily="34" charset="-122"/>
                <a:cs typeface="Tomorrow" pitchFamily="34" charset="-120"/>
              </a:rPr>
              <a:t>Ops &amp; Incident Resolution:</a:t>
            </a:r>
            <a:pPr algn="l" indent="0" marL="0">
              <a:lnSpc>
                <a:spcPts val="950"/>
              </a:lnSpc>
              <a:buNone/>
            </a:pPr>
            <a:r>
              <a:rPr lang="en-US" sz="800" dirty="0">
                <a:solidFill>
                  <a:srgbClr val="61615C"/>
                </a:solidFill>
                <a:latin typeface="Tomorrow" pitchFamily="34" charset="0"/>
                <a:ea typeface="Tomorrow" pitchFamily="34" charset="-122"/>
                <a:cs typeface="Tomorrow" pitchFamily="34" charset="-120"/>
              </a:rPr>
              <a:t> Proves AI value in day-to-day operations, builds trust and adoption by directly addressing immediate operational challenges.</a:t>
            </a:r>
            <a:endParaRPr lang="en-US" sz="800" dirty="0"/>
          </a:p>
          <a:p>
            <a:pPr algn="l" marL="342900" indent="-342900">
              <a:lnSpc>
                <a:spcPts val="950"/>
              </a:lnSpc>
              <a:buSzPct val="100000"/>
              <a:buChar char="•"/>
            </a:pPr>
            <a:r>
              <a:rPr lang="en-US" sz="800" b="1" dirty="0">
                <a:solidFill>
                  <a:srgbClr val="61615C"/>
                </a:solidFill>
                <a:latin typeface="Tomorrow" pitchFamily="34" charset="0"/>
                <a:ea typeface="Tomorrow" pitchFamily="34" charset="-122"/>
                <a:cs typeface="Tomorrow" pitchFamily="34" charset="-120"/>
              </a:rPr>
              <a:t>Legacy Modernization &amp; APIs:</a:t>
            </a:r>
            <a:pPr algn="l" indent="0" marL="0">
              <a:lnSpc>
                <a:spcPts val="950"/>
              </a:lnSpc>
              <a:buNone/>
            </a:pPr>
            <a:r>
              <a:rPr lang="en-US" sz="800" dirty="0">
                <a:solidFill>
                  <a:srgbClr val="61615C"/>
                </a:solidFill>
                <a:latin typeface="Tomorrow" pitchFamily="34" charset="0"/>
                <a:ea typeface="Tomorrow" pitchFamily="34" charset="-122"/>
                <a:cs typeface="Tomorrow" pitchFamily="34" charset="-120"/>
              </a:rPr>
              <a:t> Unblocks critical technical debt and provides visible "before/after" improvements for leadership, showcasing tangible progress.</a:t>
            </a:r>
            <a:endParaRPr lang="en-US" sz="800" dirty="0"/>
          </a:p>
          <a:p>
            <a:pPr algn="l" marL="342900" indent="-342900">
              <a:lnSpc>
                <a:spcPts val="950"/>
              </a:lnSpc>
              <a:buSzPct val="100000"/>
              <a:buChar char="•"/>
            </a:pPr>
            <a:r>
              <a:rPr lang="en-US" sz="800" b="1" dirty="0">
                <a:solidFill>
                  <a:srgbClr val="61615C"/>
                </a:solidFill>
                <a:latin typeface="Tomorrow" pitchFamily="34" charset="0"/>
                <a:ea typeface="Tomorrow" pitchFamily="34" charset="-122"/>
                <a:cs typeface="Tomorrow" pitchFamily="34" charset="-120"/>
              </a:rPr>
              <a:t>Regulatory &amp; Requirement Automation:</a:t>
            </a:r>
            <a:pPr algn="l" indent="0" marL="0">
              <a:lnSpc>
                <a:spcPts val="950"/>
              </a:lnSpc>
              <a:buNone/>
            </a:pPr>
            <a:r>
              <a:rPr lang="en-US" sz="800" dirty="0">
                <a:solidFill>
                  <a:srgbClr val="61615C"/>
                </a:solidFill>
                <a:latin typeface="Tomorrow" pitchFamily="34" charset="0"/>
                <a:ea typeface="Tomorrow" pitchFamily="34" charset="-122"/>
                <a:cs typeface="Tomorrow" pitchFamily="34" charset="-120"/>
              </a:rPr>
              <a:t> Delivers direct compliance and delivery impact, generating strong pull from COE and Program Management teams due to its critical nature.</a:t>
            </a:r>
            <a:endParaRPr lang="en-US" sz="800" dirty="0"/>
          </a:p>
          <a:p>
            <a:pPr algn="l" marL="342900" indent="-342900">
              <a:lnSpc>
                <a:spcPts val="950"/>
              </a:lnSpc>
              <a:buSzPct val="100000"/>
              <a:buChar char="•"/>
            </a:pPr>
            <a:r>
              <a:rPr lang="en-US" sz="800" b="1" dirty="0">
                <a:solidFill>
                  <a:srgbClr val="61615C"/>
                </a:solidFill>
                <a:latin typeface="Tomorrow" pitchFamily="34" charset="0"/>
                <a:ea typeface="Tomorrow" pitchFamily="34" charset="-122"/>
                <a:cs typeface="Tomorrow" pitchFamily="34" charset="-120"/>
              </a:rPr>
              <a:t>Developer Productivity &amp; Code Generation:</a:t>
            </a:r>
            <a:pPr algn="l" indent="0" marL="0">
              <a:lnSpc>
                <a:spcPts val="950"/>
              </a:lnSpc>
              <a:buNone/>
            </a:pPr>
            <a:r>
              <a:rPr lang="en-US" sz="800" dirty="0">
                <a:solidFill>
                  <a:srgbClr val="61615C"/>
                </a:solidFill>
                <a:latin typeface="Tomorrow" pitchFamily="34" charset="0"/>
                <a:ea typeface="Tomorrow" pitchFamily="34" charset="-122"/>
                <a:cs typeface="Tomorrow" pitchFamily="34" charset="-120"/>
              </a:rPr>
              <a:t> Offers quick wins and broad adoption across engineering teams by directly enhancing their efficiency and output.</a:t>
            </a:r>
            <a:endParaRPr lang="en-US" sz="800" dirty="0"/>
          </a:p>
        </p:txBody>
      </p:sp>
      <p:sp>
        <p:nvSpPr>
          <p:cNvPr id="9" name="Shape 7"/>
          <p:cNvSpPr/>
          <p:nvPr/>
        </p:nvSpPr>
        <p:spPr>
          <a:xfrm>
            <a:off x="7341870" y="1229797"/>
            <a:ext cx="4030742" cy="2154555"/>
          </a:xfrm>
          <a:prstGeom prst="roundRect">
            <a:avLst>
              <a:gd name="adj" fmla="val 3395"/>
            </a:avLst>
          </a:prstGeom>
          <a:solidFill>
            <a:srgbClr val="FCFCFC"/>
          </a:solidFill>
          <a:ln/>
        </p:spPr>
      </p:sp>
      <p:sp>
        <p:nvSpPr>
          <p:cNvPr id="10" name="Shape 8"/>
          <p:cNvSpPr/>
          <p:nvPr/>
        </p:nvSpPr>
        <p:spPr>
          <a:xfrm>
            <a:off x="7341870" y="1214557"/>
            <a:ext cx="4030742" cy="60960"/>
          </a:xfrm>
          <a:prstGeom prst="roundRect">
            <a:avLst>
              <a:gd name="adj" fmla="val 25321"/>
            </a:avLst>
          </a:prstGeom>
          <a:solidFill>
            <a:srgbClr val="1D1D1B"/>
          </a:solidFill>
          <a:ln/>
        </p:spPr>
      </p:sp>
      <p:sp>
        <p:nvSpPr>
          <p:cNvPr id="11" name="Shape 9"/>
          <p:cNvSpPr/>
          <p:nvPr/>
        </p:nvSpPr>
        <p:spPr>
          <a:xfrm>
            <a:off x="9202936" y="1075492"/>
            <a:ext cx="308610" cy="308610"/>
          </a:xfrm>
          <a:prstGeom prst="roundRect">
            <a:avLst>
              <a:gd name="adj" fmla="val 296296"/>
            </a:avLst>
          </a:prstGeom>
          <a:solidFill>
            <a:srgbClr val="1D1D1B"/>
          </a:solidFill>
          <a:ln/>
        </p:spPr>
      </p:sp>
      <p:sp>
        <p:nvSpPr>
          <p:cNvPr id="12" name="Text 10"/>
          <p:cNvSpPr/>
          <p:nvPr/>
        </p:nvSpPr>
        <p:spPr>
          <a:xfrm>
            <a:off x="9295448" y="1152644"/>
            <a:ext cx="123468" cy="154305"/>
          </a:xfrm>
          <a:prstGeom prst="rect">
            <a:avLst/>
          </a:prstGeom>
          <a:noFill/>
          <a:ln/>
        </p:spPr>
        <p:txBody>
          <a:bodyPr wrap="none" lIns="0" tIns="0" rIns="0" bIns="0" rtlCol="0" anchor="t"/>
          <a:lstStyle/>
          <a:p>
            <a:pPr algn="l" indent="0" marL="0">
              <a:lnSpc>
                <a:spcPts val="1150"/>
              </a:lnSpc>
              <a:buNone/>
            </a:pPr>
            <a:r>
              <a:rPr lang="en-US" sz="950" dirty="0">
                <a:solidFill>
                  <a:srgbClr val="FFFFFF"/>
                </a:solidFill>
                <a:latin typeface="Tomorrow Semi Bold" pitchFamily="34" charset="0"/>
                <a:ea typeface="Tomorrow Semi Bold" pitchFamily="34" charset="-122"/>
                <a:cs typeface="Tomorrow Semi Bold" pitchFamily="34" charset="-120"/>
              </a:rPr>
              <a:t>2</a:t>
            </a:r>
            <a:endParaRPr lang="en-US" sz="950" dirty="0"/>
          </a:p>
        </p:txBody>
      </p:sp>
      <p:sp>
        <p:nvSpPr>
          <p:cNvPr id="13" name="Text 11"/>
          <p:cNvSpPr/>
          <p:nvPr/>
        </p:nvSpPr>
        <p:spPr>
          <a:xfrm>
            <a:off x="7459980" y="1486972"/>
            <a:ext cx="3794522" cy="385763"/>
          </a:xfrm>
          <a:prstGeom prst="rect">
            <a:avLst/>
          </a:prstGeom>
          <a:noFill/>
          <a:ln/>
        </p:spPr>
        <p:txBody>
          <a:bodyPr wrap="square" lIns="0" tIns="0" rIns="0" bIns="0" rtlCol="0" anchor="t"/>
          <a:lstStyle/>
          <a:p>
            <a:pPr algn="l" indent="0" marL="0">
              <a:lnSpc>
                <a:spcPts val="1500"/>
              </a:lnSpc>
              <a:buNone/>
            </a:pPr>
            <a:r>
              <a:rPr lang="en-US" sz="1200" dirty="0">
                <a:solidFill>
                  <a:srgbClr val="61615C"/>
                </a:solidFill>
                <a:latin typeface="Tomorrow Semi Bold" pitchFamily="34" charset="0"/>
                <a:ea typeface="Tomorrow Semi Bold" pitchFamily="34" charset="-122"/>
                <a:cs typeface="Tomorrow Semi Bold" pitchFamily="34" charset="-120"/>
              </a:rPr>
              <a:t>Our Path: Ideation → POC → Production → Widespread Adoption</a:t>
            </a:r>
            <a:endParaRPr lang="en-US" sz="1200" dirty="0"/>
          </a:p>
        </p:txBody>
      </p:sp>
      <p:sp>
        <p:nvSpPr>
          <p:cNvPr id="14" name="Text 12"/>
          <p:cNvSpPr/>
          <p:nvPr/>
        </p:nvSpPr>
        <p:spPr>
          <a:xfrm>
            <a:off x="7459980" y="1904643"/>
            <a:ext cx="3794522" cy="1250084"/>
          </a:xfrm>
          <a:prstGeom prst="rect">
            <a:avLst/>
          </a:prstGeom>
          <a:noFill/>
          <a:ln/>
        </p:spPr>
        <p:txBody>
          <a:bodyPr wrap="square" lIns="0" tIns="0" rIns="0" bIns="0" rtlCol="0" anchor="t"/>
          <a:lstStyle/>
          <a:p>
            <a:pPr algn="l" marL="342900" indent="-342900">
              <a:lnSpc>
                <a:spcPts val="950"/>
              </a:lnSpc>
              <a:buSzPct val="100000"/>
              <a:buChar char="•"/>
            </a:pPr>
            <a:r>
              <a:rPr lang="en-US" sz="800" b="1" dirty="0">
                <a:solidFill>
                  <a:srgbClr val="61615C"/>
                </a:solidFill>
                <a:latin typeface="Tomorrow" pitchFamily="34" charset="0"/>
                <a:ea typeface="Tomorrow" pitchFamily="34" charset="-122"/>
                <a:cs typeface="Tomorrow" pitchFamily="34" charset="-120"/>
              </a:rPr>
              <a:t>Ideate:</a:t>
            </a:r>
            <a:pPr algn="l" indent="0" marL="0">
              <a:lnSpc>
                <a:spcPts val="950"/>
              </a:lnSpc>
              <a:buNone/>
            </a:pPr>
            <a:r>
              <a:rPr lang="en-US" sz="800" dirty="0">
                <a:solidFill>
                  <a:srgbClr val="61615C"/>
                </a:solidFill>
                <a:latin typeface="Tomorrow" pitchFamily="34" charset="0"/>
                <a:ea typeface="Tomorrow" pitchFamily="34" charset="-122"/>
                <a:cs typeface="Tomorrow" pitchFamily="34" charset="-120"/>
              </a:rPr>
              <a:t> Discover and prioritize opportunities with business and teams, ensuring alignment with strategic organizational goals and objectives.</a:t>
            </a:r>
            <a:endParaRPr lang="en-US" sz="800" dirty="0"/>
          </a:p>
          <a:p>
            <a:pPr algn="l" marL="342900" indent="-342900">
              <a:lnSpc>
                <a:spcPts val="950"/>
              </a:lnSpc>
              <a:buSzPct val="100000"/>
              <a:buChar char="•"/>
            </a:pPr>
            <a:r>
              <a:rPr lang="en-US" sz="800" b="1" dirty="0">
                <a:solidFill>
                  <a:srgbClr val="61615C"/>
                </a:solidFill>
                <a:latin typeface="Tomorrow" pitchFamily="34" charset="0"/>
                <a:ea typeface="Tomorrow" pitchFamily="34" charset="-122"/>
                <a:cs typeface="Tomorrow" pitchFamily="34" charset="-120"/>
              </a:rPr>
              <a:t>POC (Proof of Concept):</a:t>
            </a:r>
            <a:pPr algn="l" indent="0" marL="0">
              <a:lnSpc>
                <a:spcPts val="950"/>
              </a:lnSpc>
              <a:buNone/>
            </a:pPr>
            <a:r>
              <a:rPr lang="en-US" sz="800" dirty="0">
                <a:solidFill>
                  <a:srgbClr val="61615C"/>
                </a:solidFill>
                <a:latin typeface="Tomorrow" pitchFamily="34" charset="0"/>
                <a:ea typeface="Tomorrow" pitchFamily="34" charset="-122"/>
                <a:cs typeface="Tomorrow" pitchFamily="34" charset="-120"/>
              </a:rPr>
              <a:t> Build minimal viable solutions, validate technical feasibility, and measure tangible outcomes like time saved, compliance improvements, and developer productivity gains.</a:t>
            </a:r>
            <a:endParaRPr lang="en-US" sz="800" dirty="0"/>
          </a:p>
          <a:p>
            <a:pPr algn="l" marL="342900" indent="-342900">
              <a:lnSpc>
                <a:spcPts val="950"/>
              </a:lnSpc>
              <a:buSzPct val="100000"/>
              <a:buChar char="•"/>
            </a:pPr>
            <a:r>
              <a:rPr lang="en-US" sz="800" b="1" dirty="0">
                <a:solidFill>
                  <a:srgbClr val="61615C"/>
                </a:solidFill>
                <a:latin typeface="Tomorrow" pitchFamily="34" charset="0"/>
                <a:ea typeface="Tomorrow" pitchFamily="34" charset="-122"/>
                <a:cs typeface="Tomorrow" pitchFamily="34" charset="-120"/>
              </a:rPr>
              <a:t>Produce:</a:t>
            </a:r>
            <a:pPr algn="l" indent="0" marL="0">
              <a:lnSpc>
                <a:spcPts val="950"/>
              </a:lnSpc>
              <a:buNone/>
            </a:pPr>
            <a:r>
              <a:rPr lang="en-US" sz="800" dirty="0">
                <a:solidFill>
                  <a:srgbClr val="61615C"/>
                </a:solidFill>
                <a:latin typeface="Tomorrow" pitchFamily="34" charset="0"/>
                <a:ea typeface="Tomorrow" pitchFamily="34" charset="-122"/>
                <a:cs typeface="Tomorrow" pitchFamily="34" charset="-120"/>
              </a:rPr>
              <a:t> Launch solutions with pilot teams, iterate on feedback to refine the product, and prepare for broader organizational scaling.</a:t>
            </a:r>
            <a:endParaRPr lang="en-US" sz="800" dirty="0"/>
          </a:p>
          <a:p>
            <a:pPr algn="l" marL="342900" indent="-342900">
              <a:lnSpc>
                <a:spcPts val="950"/>
              </a:lnSpc>
              <a:buSzPct val="100000"/>
              <a:buChar char="•"/>
            </a:pPr>
            <a:r>
              <a:rPr lang="en-US" sz="800" b="1" dirty="0">
                <a:solidFill>
                  <a:srgbClr val="61615C"/>
                </a:solidFill>
                <a:latin typeface="Tomorrow" pitchFamily="34" charset="0"/>
                <a:ea typeface="Tomorrow" pitchFamily="34" charset="-122"/>
                <a:cs typeface="Tomorrow" pitchFamily="34" charset="-120"/>
              </a:rPr>
              <a:t>Adopt:</a:t>
            </a:r>
            <a:pPr algn="l" indent="0" marL="0">
              <a:lnSpc>
                <a:spcPts val="950"/>
              </a:lnSpc>
              <a:buNone/>
            </a:pPr>
            <a:r>
              <a:rPr lang="en-US" sz="800" dirty="0">
                <a:solidFill>
                  <a:srgbClr val="61615C"/>
                </a:solidFill>
                <a:latin typeface="Tomorrow" pitchFamily="34" charset="0"/>
                <a:ea typeface="Tomorrow" pitchFamily="34" charset="-122"/>
                <a:cs typeface="Tomorrow" pitchFamily="34" charset="-120"/>
              </a:rPr>
              <a:t> Scale solutions across the entire organization, embed them into existing standards, governance frameworks, and future roadmaps to ensure long-term impact.</a:t>
            </a:r>
            <a:endParaRPr lang="en-US" sz="800" dirty="0"/>
          </a:p>
        </p:txBody>
      </p:sp>
      <p:sp>
        <p:nvSpPr>
          <p:cNvPr id="15" name="Text 13"/>
          <p:cNvSpPr/>
          <p:nvPr/>
        </p:nvSpPr>
        <p:spPr>
          <a:xfrm>
            <a:off x="3257788" y="3335377"/>
            <a:ext cx="8114824" cy="249793"/>
          </a:xfrm>
          <a:prstGeom prst="rect">
            <a:avLst/>
          </a:prstGeom>
          <a:noFill/>
          <a:ln/>
        </p:spPr>
        <p:txBody>
          <a:bodyPr wrap="square" lIns="0" tIns="0" rIns="0" bIns="0" rtlCol="0" anchor="t"/>
          <a:lstStyle/>
          <a:p>
            <a:pPr algn="l" indent="0" marL="0">
              <a:lnSpc>
                <a:spcPts val="950"/>
              </a:lnSpc>
              <a:buNone/>
            </a:pPr>
            <a:r>
              <a:rPr lang="en-US" sz="800" dirty="0">
                <a:solidFill>
                  <a:srgbClr val="61615C"/>
                </a:solidFill>
                <a:latin typeface="Tomorrow" pitchFamily="34" charset="0"/>
                <a:ea typeface="Tomorrow" pitchFamily="34" charset="-122"/>
                <a:cs typeface="Tomorrow" pitchFamily="34" charset="-120"/>
              </a:rPr>
              <a:t>Prioritizing these use-case types helps us demonstrate value early, build momentum, and create significant pull for enterprise-wide adoption, ensuring our AI solutions deliver maximum impact.</a:t>
            </a:r>
            <a:endParaRPr lang="en-US" sz="800" dirty="0"/>
          </a:p>
        </p:txBody>
      </p:sp>
      <p:pic>
        <p:nvPicPr>
          <p:cNvPr id="16" name="Image 0" descr="preencoded.png">    </p:cNvPr>
          <p:cNvPicPr>
            <a:picLocks noChangeAspect="1"/>
          </p:cNvPicPr>
          <p:nvPr/>
        </p:nvPicPr>
        <p:blipFill>
          <a:blip r:embed="rId1"/>
          <a:stretch>
            <a:fillRect/>
          </a:stretch>
        </p:blipFill>
        <p:spPr>
          <a:xfrm>
            <a:off x="3399353" y="3645177"/>
            <a:ext cx="7831693" cy="3828098"/>
          </a:xfrm>
          <a:prstGeom prst="rect">
            <a:avLst/>
          </a:prstGeom>
        </p:spPr>
      </p:pic>
      <p:pic>
        <p:nvPicPr>
          <p:cNvPr id="17"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812114" y="4544905"/>
            <a:ext cx="284009" cy="284010"/>
          </a:xfrm>
          <a:prstGeom prst="rect">
            <a:avLst/>
          </a:prstGeom>
        </p:spPr>
      </p:pic>
      <p:sp>
        <p:nvSpPr>
          <p:cNvPr id="18" name="Text 14"/>
          <p:cNvSpPr/>
          <p:nvPr/>
        </p:nvSpPr>
        <p:spPr>
          <a:xfrm>
            <a:off x="3992308" y="4962297"/>
            <a:ext cx="1825774" cy="228222"/>
          </a:xfrm>
          <a:prstGeom prst="rect">
            <a:avLst/>
          </a:prstGeom>
          <a:noFill/>
          <a:ln/>
        </p:spPr>
        <p:txBody>
          <a:bodyPr wrap="none" lIns="0" tIns="0" rIns="0" bIns="0" rtlCol="0" anchor="t"/>
          <a:lstStyle/>
          <a:p>
            <a:pPr algn="ctr" indent="0" marL="0">
              <a:lnSpc>
                <a:spcPts val="1750"/>
              </a:lnSpc>
              <a:buNone/>
            </a:pPr>
            <a:r>
              <a:rPr lang="en-US" sz="1400" dirty="0">
                <a:solidFill>
                  <a:srgbClr val="61615C"/>
                </a:solidFill>
                <a:latin typeface="Tomorrow Semi Bold" pitchFamily="34" charset="0"/>
                <a:ea typeface="Tomorrow Semi Bold" pitchFamily="34" charset="-122"/>
                <a:cs typeface="Tomorrow Semi Bold" pitchFamily="34" charset="-120"/>
              </a:rPr>
              <a:t>Ideate</a:t>
            </a:r>
            <a:endParaRPr lang="en-US" sz="1400" dirty="0"/>
          </a:p>
        </p:txBody>
      </p:sp>
      <p:pic>
        <p:nvPicPr>
          <p:cNvPr id="19"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061755" y="5112924"/>
            <a:ext cx="284009" cy="284009"/>
          </a:xfrm>
          <a:prstGeom prst="rect">
            <a:avLst/>
          </a:prstGeom>
        </p:spPr>
      </p:pic>
      <p:sp>
        <p:nvSpPr>
          <p:cNvPr id="20" name="Text 15"/>
          <p:cNvSpPr/>
          <p:nvPr/>
        </p:nvSpPr>
        <p:spPr>
          <a:xfrm>
            <a:off x="7911636" y="4085926"/>
            <a:ext cx="1825773" cy="228222"/>
          </a:xfrm>
          <a:prstGeom prst="rect">
            <a:avLst/>
          </a:prstGeom>
          <a:noFill/>
          <a:ln/>
        </p:spPr>
        <p:txBody>
          <a:bodyPr wrap="none" lIns="0" tIns="0" rIns="0" bIns="0" rtlCol="0" anchor="t"/>
          <a:lstStyle/>
          <a:p>
            <a:pPr algn="ctr" indent="0" marL="0">
              <a:lnSpc>
                <a:spcPts val="1750"/>
              </a:lnSpc>
              <a:buNone/>
            </a:pPr>
            <a:r>
              <a:rPr lang="en-US" sz="1400" dirty="0">
                <a:solidFill>
                  <a:srgbClr val="61615C"/>
                </a:solidFill>
                <a:latin typeface="Tomorrow Semi Bold" pitchFamily="34" charset="0"/>
                <a:ea typeface="Tomorrow Semi Bold" pitchFamily="34" charset="-122"/>
                <a:cs typeface="Tomorrow Semi Bold" pitchFamily="34" charset="-120"/>
              </a:rPr>
              <a:t>POC</a:t>
            </a:r>
            <a:endParaRPr lang="en-US" sz="1400" dirty="0"/>
          </a:p>
        </p:txBody>
      </p:sp>
      <p:pic>
        <p:nvPicPr>
          <p:cNvPr id="21"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526068" y="6305762"/>
            <a:ext cx="284009" cy="284010"/>
          </a:xfrm>
          <a:prstGeom prst="rect">
            <a:avLst/>
          </a:prstGeom>
        </p:spPr>
      </p:pic>
      <p:sp>
        <p:nvSpPr>
          <p:cNvPr id="22" name="Text 16"/>
          <p:cNvSpPr/>
          <p:nvPr/>
        </p:nvSpPr>
        <p:spPr>
          <a:xfrm>
            <a:off x="8812224" y="5887356"/>
            <a:ext cx="1825774" cy="228221"/>
          </a:xfrm>
          <a:prstGeom prst="rect">
            <a:avLst/>
          </a:prstGeom>
          <a:noFill/>
          <a:ln/>
        </p:spPr>
        <p:txBody>
          <a:bodyPr wrap="none" lIns="0" tIns="0" rIns="0" bIns="0" rtlCol="0" anchor="t"/>
          <a:lstStyle/>
          <a:p>
            <a:pPr algn="ctr" indent="0" marL="0">
              <a:lnSpc>
                <a:spcPts val="1750"/>
              </a:lnSpc>
              <a:buNone/>
            </a:pPr>
            <a:r>
              <a:rPr lang="en-US" sz="1400" dirty="0">
                <a:solidFill>
                  <a:srgbClr val="61615C"/>
                </a:solidFill>
                <a:latin typeface="Tomorrow Semi Bold" pitchFamily="34" charset="0"/>
                <a:ea typeface="Tomorrow Semi Bold" pitchFamily="34" charset="-122"/>
                <a:cs typeface="Tomorrow Semi Bold" pitchFamily="34" charset="-120"/>
              </a:rPr>
              <a:t>Produce</a:t>
            </a:r>
            <a:endParaRPr lang="en-US" sz="1400" dirty="0"/>
          </a:p>
        </p:txBody>
      </p:sp>
      <p:pic>
        <p:nvPicPr>
          <p:cNvPr id="23"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276554" y="5770202"/>
            <a:ext cx="284010" cy="284009"/>
          </a:xfrm>
          <a:prstGeom prst="rect">
            <a:avLst/>
          </a:prstGeom>
        </p:spPr>
      </p:pic>
      <p:sp>
        <p:nvSpPr>
          <p:cNvPr id="24" name="Text 17"/>
          <p:cNvSpPr/>
          <p:nvPr/>
        </p:nvSpPr>
        <p:spPr>
          <a:xfrm>
            <a:off x="4884908" y="6779956"/>
            <a:ext cx="1825774" cy="228221"/>
          </a:xfrm>
          <a:prstGeom prst="rect">
            <a:avLst/>
          </a:prstGeom>
          <a:noFill/>
          <a:ln/>
        </p:spPr>
        <p:txBody>
          <a:bodyPr wrap="none" lIns="0" tIns="0" rIns="0" bIns="0" rtlCol="0" anchor="t"/>
          <a:lstStyle/>
          <a:p>
            <a:pPr algn="ctr" indent="0" marL="0">
              <a:lnSpc>
                <a:spcPts val="1750"/>
              </a:lnSpc>
              <a:buNone/>
            </a:pPr>
            <a:r>
              <a:rPr lang="en-US" sz="1400" dirty="0">
                <a:solidFill>
                  <a:srgbClr val="61615C"/>
                </a:solidFill>
                <a:latin typeface="Tomorrow Semi Bold" pitchFamily="34" charset="0"/>
                <a:ea typeface="Tomorrow Semi Bold" pitchFamily="34" charset="-122"/>
                <a:cs typeface="Tomorrow Semi Bold" pitchFamily="34" charset="-120"/>
              </a:rPr>
              <a:t>Adopt</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2026-02-06T20:25:36Z</dcterms:created>
  <dcterms:modified xsi:type="dcterms:W3CDTF">2026-02-06T20:25:36Z</dcterms:modified>
</cp:coreProperties>
</file>